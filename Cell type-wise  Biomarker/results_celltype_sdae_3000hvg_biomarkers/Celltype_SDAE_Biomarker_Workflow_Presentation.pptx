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999" cy="6858000" type="wide"/>
  <p:notesSz cx="6858000" cy="9144000"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
  <Relationship Id="rId999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<Relationship Id="rIdImg1" Type="http://schemas.openxmlformats.org/officeDocument/2006/relationships/image" Target="../media/celltype_PT__latent_pca_condition.png"/><Relationship Id="rIdImg2" Type="http://schemas.openxmlformats.org/officeDocument/2006/relationships/image" Target="../media/celltype_PT__confusion_matrix.png"/><Relationship Id="rIdImg3" Type="http://schemas.openxmlformats.org/officeDocument/2006/relationships/image" Target="../media/celltype_PT__top20_CKD_biomarkers.png"/>
</Relationships>
</file>

<file path=ppt/slides/_rels/slide10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Layout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48640" y="594360"/>
            <a:ext cx="11064240" cy="5943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3200" b="1">
                <a:solidFill>
                  <a:srgbClr val="0F172A"/>
                </a:solidFill>
              </a:rPr>
              <a:t>Cell Type-wise SDAE Biomarker Discovery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500">
                <a:solidFill>
                  <a:srgbClr val="475569"/>
                </a:solidFill>
              </a:rPr>
              <a:t>GSE183276 single-cell kidney data | AKI, CKD, Ref | PT, TAL, IMM, EC, IC, PC, CNT, DCT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97280" y="1965960"/>
            <a:ext cx="2971800" cy="114300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Dataset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109,741 cells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37,080 genes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metadata-driven analysis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17720" y="1965960"/>
            <a:ext cx="2971800" cy="114300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Model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Supervised Denoising Autoencoder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3000 HVG input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latent dimension = 32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38160" y="1965960"/>
            <a:ext cx="2971800" cy="114300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Output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Cell-wise biomarkers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AKI / CKD / Ref genes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metrics + plots + tables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023360"/>
            <a:ext cx="10332720" cy="7315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111827"/>
                </a:solidFill>
              </a:rPr>
              <a:t>Goal: identify condition-specific genes inside each kidney cell type using model importance and expression difference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Study Design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What data entered the pipeline and how labels were selected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417320"/>
            <a:ext cx="3108960" cy="109728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Condition column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condition.l1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AKI, CKD, Ref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26280" y="1417320"/>
            <a:ext cx="3108960" cy="109728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Cell type column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subclass.l1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PT, TAL, IMM, EC, IC, PC, CNT, DCT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412480" y="1417320"/>
            <a:ext cx="3108960" cy="109728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Per-cell-type loop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Each cell type processed separately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separate HVGs, model weights, biomarkers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3749039" y="1965960"/>
            <a:ext cx="77724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cxnSp>
        <p:nvCxnSpPr>
          <p:cNvPr id="8" name="Arrow 8"/>
          <p:cNvCxnSpPr/>
          <p:nvPr/>
        </p:nvCxnSpPr>
        <p:spPr>
          <a:xfrm>
            <a:off x="7635240" y="1965960"/>
            <a:ext cx="77723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9" name="TextBox 9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000" b="1">
                <a:solidFill>
                  <a:srgbClr val="0F172A"/>
                </a:solidFill>
              </a:rPr>
              <a:t>Important interpretation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5840" y="3703320"/>
            <a:ext cx="10149840" cy="109728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The architecture is the same for all selected cell types, but the training data, selected HVG set, learned weights, performance metrics, and biomarker genes are different for each cell 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Parameter Block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What each group of notebook settings controls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1143000"/>
            <a:ext cx="2148840" cy="123444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Metadata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CONDITION_COL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CELLTYPE_COL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971800" y="1143000"/>
            <a:ext cx="2148840" cy="123444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Targets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TARGET_CLASSES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TARGET_CELL_TYPES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0680" y="1143000"/>
            <a:ext cx="2148840" cy="123444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Feature + Split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N_TOP_HVG = 3000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TEST_SIZE, VAL_SIZE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09560" y="1143000"/>
            <a:ext cx="2148840" cy="1234440"/>
          </a:xfrm>
          <a:prstGeom prst="roundRect">
            <a:avLst/>
          </a:prstGeom>
          <a:solidFill>
            <a:srgbClr val="FEF3C7"/>
          </a:solidFill>
          <a:ln w="15000">
            <a:solidFill>
              <a:srgbClr val="B4530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Training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BATCH_SIZE, EPOCHS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PATIENCE, LR, WD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378440" y="1143000"/>
            <a:ext cx="2148840" cy="123444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Model + Biomarkers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NOISE, HIDDEN, LATENT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TOP_N, MAX_CELLS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2651760" y="1764792"/>
            <a:ext cx="32004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cxnSp>
        <p:nvCxnSpPr>
          <p:cNvPr id="10" name="Arrow 10"/>
          <p:cNvCxnSpPr/>
          <p:nvPr/>
        </p:nvCxnSpPr>
        <p:spPr>
          <a:xfrm>
            <a:off x="5120640" y="1764792"/>
            <a:ext cx="32003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cxnSp>
        <p:nvCxnSpPr>
          <p:cNvPr id="11" name="Arrow 11"/>
          <p:cNvCxnSpPr/>
          <p:nvPr/>
        </p:nvCxnSpPr>
        <p:spPr>
          <a:xfrm>
            <a:off x="7589520" y="1764792"/>
            <a:ext cx="32003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cxnSp>
        <p:nvCxnSpPr>
          <p:cNvPr id="12" name="Arrow 12"/>
          <p:cNvCxnSpPr/>
          <p:nvPr/>
        </p:nvCxnSpPr>
        <p:spPr>
          <a:xfrm>
            <a:off x="10058400" y="1764792"/>
            <a:ext cx="32003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3" name="TextBox 13"/>
          <p:cNvSpPr txBox="1"/>
          <p:nvPr/>
        </p:nvSpPr>
        <p:spPr>
          <a:xfrm>
            <a:off x="914400" y="3108960"/>
            <a:ext cx="3291840" cy="1280160"/>
          </a:xfrm>
          <a:prstGeom prst="roundRect">
            <a:avLst/>
          </a:prstGeom>
          <a:solidFill>
            <a:srgbClr val="FEE2E2"/>
          </a:solidFill>
          <a:ln w="15000">
            <a:solidFill>
              <a:srgbClr val="B91C1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Balancing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Use Ref count when possible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No oversampling replacement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otherwise use minimum count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480560" y="3108960"/>
            <a:ext cx="3291840" cy="128016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Loss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Reconstruction weight = 1.0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Classification weight = 1.5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condition prediction emphasized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46720" y="3108960"/>
            <a:ext cx="3291840" cy="128016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47556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Biomarker output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Top 200 genes per class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Gradient x Input uses up to 400 cells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ranked by combined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Total Workflow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From raw single-cell matrix to final cell type-wise biomarker tables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965960"/>
            <a:ext cx="1417320" cy="114300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Load data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expression matrix + metadata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1828800" y="2542032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2103120" y="1965960"/>
            <a:ext cx="1417320" cy="114300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Filter targets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AKI, CKD, Ref + selected cell types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3520440" y="254203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3794760" y="1965960"/>
            <a:ext cx="1417320" cy="1143000"/>
          </a:xfrm>
          <a:prstGeom prst="roundRect">
            <a:avLst/>
          </a:prstGeom>
          <a:solidFill>
            <a:srgbClr val="FEE2E2"/>
          </a:solidFill>
          <a:ln w="15000">
            <a:solidFill>
              <a:srgbClr val="B91C1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Balance classes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equal cells per condition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5212080" y="254203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5486400" y="1965960"/>
            <a:ext cx="1417320" cy="114300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Select HVGs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top 3000 by variance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6903720" y="254203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2" name="TextBox 12"/>
          <p:cNvSpPr txBox="1"/>
          <p:nvPr/>
        </p:nvSpPr>
        <p:spPr>
          <a:xfrm>
            <a:off x="7178040" y="1965960"/>
            <a:ext cx="1417320" cy="114300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Train SDAE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denoising + classification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8595360" y="254203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4" name="TextBox 14"/>
          <p:cNvSpPr txBox="1"/>
          <p:nvPr/>
        </p:nvSpPr>
        <p:spPr>
          <a:xfrm>
            <a:off x="8869680" y="1965960"/>
            <a:ext cx="1417320" cy="1143000"/>
          </a:xfrm>
          <a:prstGeom prst="roundRect">
            <a:avLst/>
          </a:prstGeom>
          <a:solidFill>
            <a:srgbClr val="FEF3C7"/>
          </a:solidFill>
          <a:ln w="15000">
            <a:solidFill>
              <a:srgbClr val="B4530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Evaluate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accuracy, F1, confusion matrix, PCA</a:t>
            </a:r>
          </a:p>
        </p:txBody>
      </p:sp>
      <p:cxnSp>
        <p:nvCxnSpPr>
          <p:cNvPr id="15" name="Arrow 15"/>
          <p:cNvCxnSpPr/>
          <p:nvPr/>
        </p:nvCxnSpPr>
        <p:spPr>
          <a:xfrm>
            <a:off x="10287000" y="254203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6" name="TextBox 16"/>
          <p:cNvSpPr txBox="1"/>
          <p:nvPr/>
        </p:nvSpPr>
        <p:spPr>
          <a:xfrm>
            <a:off x="10561319" y="1965960"/>
            <a:ext cx="1417320" cy="114300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47556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Rank genes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Gradient x Input + expression difference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5800" y="4069080"/>
            <a:ext cx="10972800" cy="82296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The loop repeats for PT, TAL, IMM, EC, IC, PC, CNT, and DCT. Final tables concatenate the top biomarkers from all cell types and classes.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SDAE Architecture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Same architecture is used for every selected cell type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48640" y="1828800"/>
            <a:ext cx="1691640" cy="114300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Input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3000 HVG genes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2240280" y="2404872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2514600" y="1828800"/>
            <a:ext cx="1691640" cy="1143000"/>
          </a:xfrm>
          <a:prstGeom prst="roundRect">
            <a:avLst/>
          </a:prstGeom>
          <a:solidFill>
            <a:srgbClr val="FEE2E2"/>
          </a:solidFill>
          <a:ln w="15000">
            <a:solidFill>
              <a:srgbClr val="B91C1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Noise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random masking p=0.20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4206240" y="2404872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4480560" y="1828800"/>
            <a:ext cx="1691640" cy="114300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Encoder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3000 -&gt; 512 -&gt; 128 -&gt; 32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6172200" y="2404872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446520" y="1828800"/>
            <a:ext cx="1691640" cy="114300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Latent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z = 32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8138160" y="2404872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2" name="TextBox 12"/>
          <p:cNvSpPr txBox="1"/>
          <p:nvPr/>
        </p:nvSpPr>
        <p:spPr>
          <a:xfrm>
            <a:off x="8412480" y="1828800"/>
            <a:ext cx="1691640" cy="114300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Decoder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32 -&gt; 128 -&gt; 512 -&gt; 3000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10104120" y="2404872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4" name="TextBox 14"/>
          <p:cNvSpPr txBox="1"/>
          <p:nvPr/>
        </p:nvSpPr>
        <p:spPr>
          <a:xfrm>
            <a:off x="10378440" y="1828800"/>
            <a:ext cx="1691640" cy="1143000"/>
          </a:xfrm>
          <a:prstGeom prst="roundRect">
            <a:avLst/>
          </a:prstGeom>
          <a:solidFill>
            <a:srgbClr val="FEF3C7"/>
          </a:solidFill>
          <a:ln w="15000">
            <a:solidFill>
              <a:srgbClr val="B4530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Classifier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32 -&gt; 64 -&gt; AKI/CKD/Ref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05840" y="3886200"/>
            <a:ext cx="10149840" cy="96012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Training objective combines reconstruction and classification: MSE encourages robust representation, CrossEntropy learns disease condition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Gene Importance Logic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How biomarkers are scored, not just predicted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691640"/>
            <a:ext cx="1600200" cy="123444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Target class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AKI or CKD or Ref</a:t>
            </a:r>
          </a:p>
        </p:txBody>
      </p:sp>
      <p:cxnSp>
        <p:nvCxnSpPr>
          <p:cNvPr id="5" name="Arrow 5"/>
          <p:cNvCxnSpPr/>
          <p:nvPr/>
        </p:nvCxnSpPr>
        <p:spPr>
          <a:xfrm>
            <a:off x="2194560" y="2304288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6" name="TextBox 6"/>
          <p:cNvSpPr txBox="1"/>
          <p:nvPr/>
        </p:nvSpPr>
        <p:spPr>
          <a:xfrm>
            <a:off x="2468879" y="1691640"/>
            <a:ext cx="1600200" cy="123444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Class logit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use classifier score before softmax</a:t>
            </a:r>
          </a:p>
        </p:txBody>
      </p:sp>
      <p:cxnSp>
        <p:nvCxnSpPr>
          <p:cNvPr id="7" name="Arrow 7"/>
          <p:cNvCxnSpPr/>
          <p:nvPr/>
        </p:nvCxnSpPr>
        <p:spPr>
          <a:xfrm>
            <a:off x="4069079" y="2304288"/>
            <a:ext cx="274320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8" name="TextBox 8"/>
          <p:cNvSpPr txBox="1"/>
          <p:nvPr/>
        </p:nvSpPr>
        <p:spPr>
          <a:xfrm>
            <a:off x="4343400" y="1691640"/>
            <a:ext cx="1600200" cy="123444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Gradient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d(logit) / d(gene)</a:t>
            </a:r>
          </a:p>
        </p:txBody>
      </p:sp>
      <p:cxnSp>
        <p:nvCxnSpPr>
          <p:cNvPr id="9" name="Arrow 9"/>
          <p:cNvCxnSpPr/>
          <p:nvPr/>
        </p:nvCxnSpPr>
        <p:spPr>
          <a:xfrm>
            <a:off x="5943600" y="2304288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0" name="TextBox 10"/>
          <p:cNvSpPr txBox="1"/>
          <p:nvPr/>
        </p:nvSpPr>
        <p:spPr>
          <a:xfrm>
            <a:off x="6217920" y="1691640"/>
            <a:ext cx="1600200" cy="123444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Gradient x Input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importance = sensitivity x expression</a:t>
            </a:r>
          </a:p>
        </p:txBody>
      </p:sp>
      <p:cxnSp>
        <p:nvCxnSpPr>
          <p:cNvPr id="11" name="Arrow 11"/>
          <p:cNvCxnSpPr/>
          <p:nvPr/>
        </p:nvCxnSpPr>
        <p:spPr>
          <a:xfrm>
            <a:off x="7818120" y="2304288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2" name="TextBox 12"/>
          <p:cNvSpPr txBox="1"/>
          <p:nvPr/>
        </p:nvSpPr>
        <p:spPr>
          <a:xfrm>
            <a:off x="8092440" y="1691640"/>
            <a:ext cx="1600200" cy="123444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Expression direction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target mean - others mean</a:t>
            </a:r>
          </a:p>
        </p:txBody>
      </p:sp>
      <p:cxnSp>
        <p:nvCxnSpPr>
          <p:cNvPr id="13" name="Arrow 13"/>
          <p:cNvCxnSpPr/>
          <p:nvPr/>
        </p:nvCxnSpPr>
        <p:spPr>
          <a:xfrm>
            <a:off x="9692640" y="2304288"/>
            <a:ext cx="274319" cy="9144"/>
          </a:xfrm>
          <a:prstGeom prst="line">
            <a:avLst/>
          </a:prstGeom>
          <a:ln w="22000">
            <a:solidFill>
              <a:srgbClr val="1F2937"/>
            </a:solidFill>
            <a:tailEnd type="triangle"/>
          </a:ln>
        </p:spPr>
      </p:cxnSp>
      <p:sp>
        <p:nvSpPr>
          <p:cNvPr id="14" name="TextBox 14"/>
          <p:cNvSpPr txBox="1"/>
          <p:nvPr/>
        </p:nvSpPr>
        <p:spPr>
          <a:xfrm>
            <a:off x="9966959" y="1691640"/>
            <a:ext cx="1600200" cy="1234440"/>
          </a:xfrm>
          <a:prstGeom prst="roundRect">
            <a:avLst/>
          </a:prstGeom>
          <a:solidFill>
            <a:srgbClr val="FEE2E2"/>
          </a:solidFill>
          <a:ln w="15000">
            <a:solidFill>
              <a:srgbClr val="B91C1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Combined score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importance x abs(diff)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" y="3931920"/>
            <a:ext cx="10424160" cy="86868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A high-ranked gene is both useful for the trained classifier and strongly different in the target condition compared with the other two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Balanced Cell Counts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Cell count used after within-cell-type class balancing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94360" y="1234440"/>
            <a:ext cx="128016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Cell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74519" y="1234440"/>
            <a:ext cx="182880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Balanced cells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03320" y="1234440"/>
            <a:ext cx="329184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Rule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360" y="1554480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PT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4519" y="1554480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15549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03320" y="1554480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Ref count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360" y="1847088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TAL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74519" y="1847088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10935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03320" y="1847088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Ref count used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4360" y="2139696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IMM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874519" y="2139696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4419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703320" y="2139696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Ref count used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360" y="2432303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EC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74519" y="2432303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5745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03320" y="2432303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minimum condition count used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94360" y="2724911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IC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874519" y="2724911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3330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3703320" y="2724911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minimum condition count used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4360" y="3017519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PC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74519" y="3017519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2478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03320" y="3017519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Ref count used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94360" y="3310127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CNT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74519" y="3310127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4749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703320" y="3310127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minimum condition count used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4360" y="3602735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DCT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74519" y="3602735"/>
            <a:ext cx="18288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2472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703320" y="3602735"/>
            <a:ext cx="329184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minimum condition count used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543800" y="1554480"/>
            <a:ext cx="3840480" cy="1828800"/>
          </a:xfrm>
          <a:prstGeom prst="roundRect">
            <a:avLst/>
          </a:prstGeom>
          <a:solidFill>
            <a:srgbClr val="FEE2E2"/>
          </a:solidFill>
          <a:ln w="15000">
            <a:solidFill>
              <a:srgbClr val="B91C1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Why balancing matters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Prevents dominant condition from controlling training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Makes AKI, CKD, Ref comparison fairer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Avoids replacement oversampling in this setup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Model Performance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Test performance across cell type-specific SDAE models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40080" y="1188720"/>
            <a:ext cx="91440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Cell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554480" y="1188720"/>
            <a:ext cx="118872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43200" y="1188720"/>
            <a:ext cx="118872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Macro F1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31920" y="1188720"/>
            <a:ext cx="128016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Best val F1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12080" y="1188720"/>
            <a:ext cx="914400" cy="320040"/>
          </a:xfrm>
          <a:prstGeom prst="rect">
            <a:avLst/>
          </a:prstGeom>
          <a:solidFill>
            <a:srgbClr val="0F172A"/>
          </a:solidFill>
          <a:ln w="15000">
            <a:solidFill>
              <a:srgbClr val="0F172A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100" b="1">
                <a:solidFill>
                  <a:srgbClr val="FFFFFF"/>
                </a:solidFill>
              </a:rPr>
              <a:t>Epochs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40080" y="1508760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CNT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4480" y="1508760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0.924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43200" y="1508760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0.925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31920" y="1508760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0.922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212080" y="1508760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080" y="1801368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DCT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4480" y="1801368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0.869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43200" y="1801368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0.870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31920" y="1801368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0.891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212080" y="1801368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0080" y="2093976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EC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54480" y="2093976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0.870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43200" y="2093976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0.870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31920" y="2093976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0.881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212080" y="2093976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30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0080" y="2386584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IC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54480" y="2386584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0.893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743200" y="2386584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0.895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931920" y="2386584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0.923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212080" y="2386584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17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0080" y="2679191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IMM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54480" y="2679191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0.833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743200" y="2679191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0.833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3931920" y="2679191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0.835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212080" y="2679191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40080" y="2971799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PC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554480" y="2971799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0.905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743200" y="2971799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0.905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931920" y="2971799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0.892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212080" y="2971799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0080" y="3264407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PT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554480" y="3264407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0.936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43200" y="3264407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0.936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931920" y="3264407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0.940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212080" y="3264407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19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40080" y="3557015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TAL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554480" y="3557015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0.899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743200" y="3557015"/>
            <a:ext cx="118872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0.900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931920" y="3557015"/>
            <a:ext cx="128016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0.912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5212080" y="3557015"/>
            <a:ext cx="914400" cy="292608"/>
          </a:xfrm>
          <a:prstGeom prst="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000">
                <a:solidFill>
                  <a:srgbClr val="334155"/>
                </a:solidFill>
              </a:rPr>
              <a:t>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583680" y="1325880"/>
            <a:ext cx="4846320" cy="164592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Overall pattern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Most cell type-specific models achieved strong macro F1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PT and CNT were among the highest-performing models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IMM was comparatively lower but still learned useful signal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83680" y="3383280"/>
            <a:ext cx="4846320" cy="128016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47556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Use in biomarker discovery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Performance supports using classifier gradients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Biomarkers should still be interpreted biologically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Example Output Plots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Saved figures produced by the notebook</a:t>
            </a:r>
          </a:p>
        </p:txBody>
      </p:sp>
      <p:pic>
        <p:nvPicPr>
          <p:cNvPr id="4" name="celltype_PT__latent_pca_condition.png"/>
          <p:cNvPicPr/>
          <p:nvPr/>
        </p:nvPicPr>
        <p:blipFill>
          <a:blip r:embed="rIdImg1"/>
          <a:stretch>
            <a:fillRect/>
          </a:stretch>
        </p:blipFill>
        <p:spPr>
          <a:xfrm>
            <a:off x="594360" y="1325880"/>
            <a:ext cx="3520440" cy="27432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94360" y="4224528"/>
            <a:ext cx="3520440" cy="32004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>
                <a:solidFill>
                  <a:srgbClr val="334155"/>
                </a:solidFill>
              </a:rPr>
              <a:t>PT latent PCA</a:t>
            </a:r>
          </a:p>
        </p:txBody>
      </p:sp>
      <p:pic>
        <p:nvPicPr>
          <p:cNvPr id="6" name="celltype_PT__confusion_matrix.png"/>
          <p:cNvPicPr/>
          <p:nvPr/>
        </p:nvPicPr>
        <p:blipFill>
          <a:blip r:embed="rIdImg2"/>
          <a:stretch>
            <a:fillRect/>
          </a:stretch>
        </p:blipFill>
        <p:spPr>
          <a:xfrm>
            <a:off x="4480560" y="1325880"/>
            <a:ext cx="3520440" cy="27432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4480560" y="4224528"/>
            <a:ext cx="3520440" cy="32004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>
                <a:solidFill>
                  <a:srgbClr val="334155"/>
                </a:solidFill>
              </a:rPr>
              <a:t>PT confusion matrix</a:t>
            </a:r>
          </a:p>
        </p:txBody>
      </p:sp>
      <p:pic>
        <p:nvPicPr>
          <p:cNvPr id="8" name="celltype_PT__top20_CKD_biomarkers.png"/>
          <p:cNvPicPr/>
          <p:nvPr/>
        </p:nvPicPr>
        <p:blipFill>
          <a:blip r:embed="rIdImg3"/>
          <a:stretch>
            <a:fillRect/>
          </a:stretch>
        </p:blipFill>
        <p:spPr>
          <a:xfrm>
            <a:off x="8366760" y="1325880"/>
            <a:ext cx="3520440" cy="27432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8366760" y="4224528"/>
            <a:ext cx="3520440" cy="32004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300">
                <a:solidFill>
                  <a:srgbClr val="334155"/>
                </a:solidFill>
              </a:rPr>
              <a:t>PT CKD top biomarkers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22960" y="5029200"/>
            <a:ext cx="10607040" cy="502920"/>
          </a:xfrm>
          <a:prstGeom prst="roundRect">
            <a:avLst/>
          </a:prstGeom>
          <a:solidFill>
            <a:srgbClr val="F1F5F9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600">
                <a:solidFill>
                  <a:srgbClr val="334155"/>
                </a:solidFill>
              </a:rPr>
              <a:t>Similar plots are saved for every selected cell type with prefix celltype_&lt;CELLTYPE&gt;__...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Final Biomarker Tables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How to read the saved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1520" y="1325880"/>
            <a:ext cx="3291840" cy="128016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ALL_celltype_top_biomarkers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Top ranked genes per cell type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separate class labels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AKI, CKD, Ref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34840" y="1325880"/>
            <a:ext cx="3291840" cy="128016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FINAL_compact_celltype_biomarkers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Report-friendly compact table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gene, class, score, importance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mean expression columns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38160" y="1325880"/>
            <a:ext cx="3291840" cy="1280160"/>
          </a:xfrm>
          <a:prstGeom prst="roundRect">
            <a:avLst/>
          </a:prstGeom>
          <a:solidFill>
            <a:srgbClr val="FFEDD5"/>
          </a:solidFill>
          <a:ln w="15000">
            <a:solidFill>
              <a:srgbClr val="C2410C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Per-cell files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HVG list, metrics, confusion matrix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latent representation</a:t>
            </a:r>
          </a:p>
          <a:p>
            <a:pPr algn="ctr"/>
            <a:r>
              <a:rPr lang="en-US" sz="1200">
                <a:solidFill>
                  <a:srgbClr val="334155"/>
                </a:solidFill>
              </a:rPr>
              <a:t>trained model weights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7280" y="3429000"/>
            <a:ext cx="9966960" cy="1097280"/>
          </a:xfrm>
          <a:prstGeom prst="roundRect">
            <a:avLst/>
          </a:prstGeom>
          <a:solidFill>
            <a:srgbClr val="FFFFFF"/>
          </a:solidFill>
          <a:ln w="15000">
            <a:solidFill>
              <a:srgbClr val="CBD5E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Columns to explain: importance = Gradient x Input model relevance; target_minus_others_mean = expression difference; combined_score = final ranking score combining 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11480" y="201168"/>
            <a:ext cx="11384280" cy="438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600" b="1">
                <a:solidFill>
                  <a:srgbClr val="334155"/>
                </a:solidFill>
              </a:rPr>
              <a:t>Take-home Message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40080" y="658368"/>
            <a:ext cx="10927080" cy="3200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200">
                <a:solidFill>
                  <a:srgbClr val="334155"/>
                </a:solidFill>
              </a:rPr>
              <a:t>What this workflow contributes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14400" y="1417320"/>
            <a:ext cx="10332720" cy="640080"/>
          </a:xfrm>
          <a:prstGeom prst="roundRect">
            <a:avLst/>
          </a:prstGeom>
          <a:solidFill>
            <a:srgbClr val="E0F2FE"/>
          </a:solidFill>
          <a:ln w="15000">
            <a:solidFill>
              <a:srgbClr val="0369A1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200">
                <a:solidFill>
                  <a:srgbClr val="0F172A"/>
                </a:solidFill>
              </a:rPr>
              <a:t>Cell type-wise modeling avoids mixing biologically different kidney compartments.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2423160"/>
            <a:ext cx="10332720" cy="640080"/>
          </a:xfrm>
          <a:prstGeom prst="roundRect">
            <a:avLst/>
          </a:prstGeom>
          <a:solidFill>
            <a:srgbClr val="EDE9FE"/>
          </a:solidFill>
          <a:ln w="15000">
            <a:solidFill>
              <a:srgbClr val="6D28D9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200">
                <a:solidFill>
                  <a:srgbClr val="0F172A"/>
                </a:solidFill>
              </a:rPr>
              <a:t>The SDAE learns robust latent features while also predicting AKI, CKD, and Ref.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14400" y="3429000"/>
            <a:ext cx="10332720" cy="640080"/>
          </a:xfrm>
          <a:prstGeom prst="roundRect">
            <a:avLst/>
          </a:prstGeom>
          <a:solidFill>
            <a:srgbClr val="DCFCE7"/>
          </a:solidFill>
          <a:ln w="15000">
            <a:solidFill>
              <a:srgbClr val="15803D"/>
            </a:solidFill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2200">
                <a:solidFill>
                  <a:srgbClr val="0F172A"/>
                </a:solidFill>
              </a:rPr>
              <a:t>Biomarkers are prioritized by both model importance and condition-specific expression shift.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4400" y="46634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mid">
            <a:spAutoFit/>
          </a:bodyPr>
          <a:lstStyle/>
          <a:p>
            <a:pPr algn="ctr"/>
            <a:r>
              <a:rPr lang="en-US" sz="1800">
                <a:solidFill>
                  <a:srgbClr val="334155"/>
                </a:solidFill>
              </a:rPr>
              <a:t>Result: separate AKI, CKD, and Ref biomarker candidates for PT, TAL, IMM, EC, IC, PC, CNT, and DCT.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369A1"/>
      </a:accent1>
      <a:accent2>
        <a:srgbClr val="15803D"/>
      </a:accent2>
      <a:accent3>
        <a:srgbClr val="C2410C"/>
      </a:accent3>
      <a:accent4>
        <a:srgbClr val="6D28D9"/>
      </a:accent4>
      <a:accent5>
        <a:srgbClr val="B45309"/>
      </a:accent5>
      <a:accent6>
        <a:srgbClr val="B91C1C"/>
      </a:accent6>
      <a:hlink>
        <a:srgbClr val="0563C1"/>
      </a:hlink>
      <a:folHlink>
        <a:srgbClr val="954F72"/>
      </a:folHlink>
    </a:clrScheme>
    <a:fontScheme name="Office">
      <a:majorFont>
        <a:latin typeface="Arial"/>
      </a:majorFont>
      <a:minorFont>
        <a:latin typeface="Arial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/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 Type-wise SDAE Biomarker Workflow</dc:title>
  <dc:creator>Codex</dc:creator>
  <cp:lastModifiedBy>Codex</cp:lastModifiedBy>
  <dcterms:created xsi:type="dcterms:W3CDTF">2026-06-25T00:00:00Z</dcterms:created>
  <dcterms:modified xsi:type="dcterms:W3CDTF">2026-06-25T00:00:00Z</dcterms:modified>
</cp:coreProperties>
</file>